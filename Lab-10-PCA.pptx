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9" r:id="rId3"/>
    <p:sldId id="257" r:id="rId4"/>
    <p:sldId id="263" r:id="rId5"/>
    <p:sldId id="26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AF36C6-7AE8-46C7-81F4-832AFC6B41C8}" type="datetimeFigureOut">
              <a:rPr lang="en-IN" smtClean="0"/>
              <a:t>01-05-2025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BD6E91-ACCC-469B-99CF-4DA72278C92D}" type="slidenum">
              <a:rPr lang="en-IN" smtClean="0"/>
              <a:t>‹#›</a:t>
            </a:fld>
            <a:endParaRPr lang="en-IN"/>
          </a:p>
        </p:txBody>
      </p:sp>
    </p:spTree>
    <p:extLst>
      <p:ext uri="{BB962C8B-B14F-4D97-AF65-F5344CB8AC3E}">
        <p14:creationId xmlns:p14="http://schemas.microsoft.com/office/powerpoint/2010/main" val="1868991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 an appropriate data set for building the decision tree.</a:t>
            </a:r>
          </a:p>
          <a:p>
            <a:endParaRPr lang="en-IN" dirty="0"/>
          </a:p>
        </p:txBody>
      </p:sp>
      <p:sp>
        <p:nvSpPr>
          <p:cNvPr id="4" name="Slide Number Placeholder 3"/>
          <p:cNvSpPr>
            <a:spLocks noGrp="1"/>
          </p:cNvSpPr>
          <p:nvPr>
            <p:ph type="sldNum" sz="quarter" idx="5"/>
          </p:nvPr>
        </p:nvSpPr>
        <p:spPr/>
        <p:txBody>
          <a:bodyPr/>
          <a:lstStyle/>
          <a:p>
            <a:fld id="{E0BD6E91-ACCC-469B-99CF-4DA72278C92D}" type="slidenum">
              <a:rPr lang="en-IN" smtClean="0"/>
              <a:t>1</a:t>
            </a:fld>
            <a:endParaRPr lang="en-IN"/>
          </a:p>
        </p:txBody>
      </p:sp>
    </p:spTree>
    <p:extLst>
      <p:ext uri="{BB962C8B-B14F-4D97-AF65-F5344CB8AC3E}">
        <p14:creationId xmlns:p14="http://schemas.microsoft.com/office/powerpoint/2010/main" val="3502000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endParaRPr lang="en-US" b="0" i="0" dirty="0">
              <a:effectLst/>
              <a:latin typeface="system-ui"/>
            </a:endParaRPr>
          </a:p>
        </p:txBody>
      </p:sp>
      <p:sp>
        <p:nvSpPr>
          <p:cNvPr id="4" name="Slide Number Placeholder 3"/>
          <p:cNvSpPr>
            <a:spLocks noGrp="1"/>
          </p:cNvSpPr>
          <p:nvPr>
            <p:ph type="sldNum" sz="quarter" idx="5"/>
          </p:nvPr>
        </p:nvSpPr>
        <p:spPr/>
        <p:txBody>
          <a:bodyPr/>
          <a:lstStyle/>
          <a:p>
            <a:fld id="{E0BD6E91-ACCC-469B-99CF-4DA72278C92D}" type="slidenum">
              <a:rPr lang="en-IN" smtClean="0"/>
              <a:t>3</a:t>
            </a:fld>
            <a:endParaRPr lang="en-IN"/>
          </a:p>
        </p:txBody>
      </p:sp>
    </p:spTree>
    <p:extLst>
      <p:ext uri="{BB962C8B-B14F-4D97-AF65-F5344CB8AC3E}">
        <p14:creationId xmlns:p14="http://schemas.microsoft.com/office/powerpoint/2010/main" val="2179208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CA694-8539-4F98-981A-1EDA732D51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9C36B19-6608-405C-A354-829FBF3559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82A3939-EFAA-421E-B7E5-91DBE405BB41}"/>
              </a:ext>
            </a:extLst>
          </p:cNvPr>
          <p:cNvSpPr>
            <a:spLocks noGrp="1"/>
          </p:cNvSpPr>
          <p:nvPr>
            <p:ph type="dt" sz="half" idx="10"/>
          </p:nvPr>
        </p:nvSpPr>
        <p:spPr/>
        <p:txBody>
          <a:bodyPr/>
          <a:lstStyle/>
          <a:p>
            <a:fld id="{843F7753-906A-48E5-A75C-DEB3356F7158}" type="datetimeFigureOut">
              <a:rPr lang="en-IN" smtClean="0"/>
              <a:t>01-05-2025</a:t>
            </a:fld>
            <a:endParaRPr lang="en-IN"/>
          </a:p>
        </p:txBody>
      </p:sp>
      <p:sp>
        <p:nvSpPr>
          <p:cNvPr id="5" name="Footer Placeholder 4">
            <a:extLst>
              <a:ext uri="{FF2B5EF4-FFF2-40B4-BE49-F238E27FC236}">
                <a16:creationId xmlns:a16="http://schemas.microsoft.com/office/drawing/2014/main" id="{93A95FF7-2427-4F17-97B1-8FFF225204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B21751-4937-461F-87F9-7A392360EFA6}"/>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1803206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4BDF8-4ACF-424B-880E-E08537D910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E180ACF-E98E-4522-A30A-597B8DB6C8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09A2D5-96B9-4358-8FE1-8D4FD3B9B01C}"/>
              </a:ext>
            </a:extLst>
          </p:cNvPr>
          <p:cNvSpPr>
            <a:spLocks noGrp="1"/>
          </p:cNvSpPr>
          <p:nvPr>
            <p:ph type="dt" sz="half" idx="10"/>
          </p:nvPr>
        </p:nvSpPr>
        <p:spPr/>
        <p:txBody>
          <a:bodyPr/>
          <a:lstStyle/>
          <a:p>
            <a:fld id="{843F7753-906A-48E5-A75C-DEB3356F7158}" type="datetimeFigureOut">
              <a:rPr lang="en-IN" smtClean="0"/>
              <a:t>01-05-2025</a:t>
            </a:fld>
            <a:endParaRPr lang="en-IN"/>
          </a:p>
        </p:txBody>
      </p:sp>
      <p:sp>
        <p:nvSpPr>
          <p:cNvPr id="5" name="Footer Placeholder 4">
            <a:extLst>
              <a:ext uri="{FF2B5EF4-FFF2-40B4-BE49-F238E27FC236}">
                <a16:creationId xmlns:a16="http://schemas.microsoft.com/office/drawing/2014/main" id="{811CF421-5737-440A-A2F0-49AAAAEB90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BC25-1FD5-4A09-885A-DD27ABB4CB94}"/>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3456989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C59C7-B2B8-4A92-8112-CDCA3ED77A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47DB073-4405-4769-9A58-E9838CAB8B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79B822-CA5B-49B6-9C4B-B6BDDAA14B04}"/>
              </a:ext>
            </a:extLst>
          </p:cNvPr>
          <p:cNvSpPr>
            <a:spLocks noGrp="1"/>
          </p:cNvSpPr>
          <p:nvPr>
            <p:ph type="dt" sz="half" idx="10"/>
          </p:nvPr>
        </p:nvSpPr>
        <p:spPr/>
        <p:txBody>
          <a:bodyPr/>
          <a:lstStyle/>
          <a:p>
            <a:fld id="{843F7753-906A-48E5-A75C-DEB3356F7158}" type="datetimeFigureOut">
              <a:rPr lang="en-IN" smtClean="0"/>
              <a:t>01-05-2025</a:t>
            </a:fld>
            <a:endParaRPr lang="en-IN"/>
          </a:p>
        </p:txBody>
      </p:sp>
      <p:sp>
        <p:nvSpPr>
          <p:cNvPr id="5" name="Footer Placeholder 4">
            <a:extLst>
              <a:ext uri="{FF2B5EF4-FFF2-40B4-BE49-F238E27FC236}">
                <a16:creationId xmlns:a16="http://schemas.microsoft.com/office/drawing/2014/main" id="{89812456-FA02-4535-9110-EF3A70696D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FCB938-EBAC-475B-B511-55C245341565}"/>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2770027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54E19-18F7-4B0F-9E44-CEC0A5921BD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C1C5B0-0AF3-4706-A197-680544366D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9F93FA1-BC97-4F2C-9CB5-47CEB7A0EC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5B276F9-6CCE-426B-AED3-2DD8D21184C8}"/>
              </a:ext>
            </a:extLst>
          </p:cNvPr>
          <p:cNvSpPr>
            <a:spLocks noGrp="1"/>
          </p:cNvSpPr>
          <p:nvPr>
            <p:ph type="dt" sz="half" idx="10"/>
          </p:nvPr>
        </p:nvSpPr>
        <p:spPr/>
        <p:txBody>
          <a:bodyPr/>
          <a:lstStyle/>
          <a:p>
            <a:fld id="{843F7753-906A-48E5-A75C-DEB3356F7158}" type="datetimeFigureOut">
              <a:rPr lang="en-IN" smtClean="0"/>
              <a:t>01-05-2025</a:t>
            </a:fld>
            <a:endParaRPr lang="en-IN"/>
          </a:p>
        </p:txBody>
      </p:sp>
      <p:sp>
        <p:nvSpPr>
          <p:cNvPr id="6" name="Footer Placeholder 5">
            <a:extLst>
              <a:ext uri="{FF2B5EF4-FFF2-40B4-BE49-F238E27FC236}">
                <a16:creationId xmlns:a16="http://schemas.microsoft.com/office/drawing/2014/main" id="{7713BFAE-76B3-4F59-A8BF-45947DC6BB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09FDEA-BB6E-4B29-A2B7-2AB7572B7D49}"/>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1223994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68B14-891D-4CC9-BD47-C32827F1BDE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E1E292-DF48-4B89-B38D-B9C9C7E047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D0D85D-9BCE-4FFD-92C3-A58B04F4F8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8B28CBB-4B92-4278-A207-3687DD7AFA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BC5B4-254A-4C79-BB42-A1C979E3B5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6576D99-9C50-4E40-81C6-D580AD8BFD6D}"/>
              </a:ext>
            </a:extLst>
          </p:cNvPr>
          <p:cNvSpPr>
            <a:spLocks noGrp="1"/>
          </p:cNvSpPr>
          <p:nvPr>
            <p:ph type="dt" sz="half" idx="10"/>
          </p:nvPr>
        </p:nvSpPr>
        <p:spPr/>
        <p:txBody>
          <a:bodyPr/>
          <a:lstStyle/>
          <a:p>
            <a:fld id="{843F7753-906A-48E5-A75C-DEB3356F7158}" type="datetimeFigureOut">
              <a:rPr lang="en-IN" smtClean="0"/>
              <a:t>01-05-2025</a:t>
            </a:fld>
            <a:endParaRPr lang="en-IN"/>
          </a:p>
        </p:txBody>
      </p:sp>
      <p:sp>
        <p:nvSpPr>
          <p:cNvPr id="8" name="Footer Placeholder 7">
            <a:extLst>
              <a:ext uri="{FF2B5EF4-FFF2-40B4-BE49-F238E27FC236}">
                <a16:creationId xmlns:a16="http://schemas.microsoft.com/office/drawing/2014/main" id="{C6B97BB3-5252-4580-BF5A-1BAC3F774BE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49352F7-CF7B-4358-9DD6-8E4000CCB097}"/>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3290418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899B6-ED16-47D8-89A0-F7CC4E27BE0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DE2B694-695F-4276-8004-647F2B9ABD37}"/>
              </a:ext>
            </a:extLst>
          </p:cNvPr>
          <p:cNvSpPr>
            <a:spLocks noGrp="1"/>
          </p:cNvSpPr>
          <p:nvPr>
            <p:ph type="dt" sz="half" idx="10"/>
          </p:nvPr>
        </p:nvSpPr>
        <p:spPr/>
        <p:txBody>
          <a:bodyPr/>
          <a:lstStyle/>
          <a:p>
            <a:fld id="{843F7753-906A-48E5-A75C-DEB3356F7158}" type="datetimeFigureOut">
              <a:rPr lang="en-IN" smtClean="0"/>
              <a:t>01-05-2025</a:t>
            </a:fld>
            <a:endParaRPr lang="en-IN"/>
          </a:p>
        </p:txBody>
      </p:sp>
      <p:sp>
        <p:nvSpPr>
          <p:cNvPr id="4" name="Footer Placeholder 3">
            <a:extLst>
              <a:ext uri="{FF2B5EF4-FFF2-40B4-BE49-F238E27FC236}">
                <a16:creationId xmlns:a16="http://schemas.microsoft.com/office/drawing/2014/main" id="{E4ACCC71-0410-4674-81A8-B8D77542E7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8877572-E25D-4CAE-9589-8A86264A3737}"/>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3249617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F38B43-40F0-4F55-81FA-77DBCB0F29A5}"/>
              </a:ext>
            </a:extLst>
          </p:cNvPr>
          <p:cNvSpPr>
            <a:spLocks noGrp="1"/>
          </p:cNvSpPr>
          <p:nvPr>
            <p:ph type="dt" sz="half" idx="10"/>
          </p:nvPr>
        </p:nvSpPr>
        <p:spPr/>
        <p:txBody>
          <a:bodyPr/>
          <a:lstStyle/>
          <a:p>
            <a:fld id="{843F7753-906A-48E5-A75C-DEB3356F7158}" type="datetimeFigureOut">
              <a:rPr lang="en-IN" smtClean="0"/>
              <a:t>01-05-2025</a:t>
            </a:fld>
            <a:endParaRPr lang="en-IN"/>
          </a:p>
        </p:txBody>
      </p:sp>
      <p:sp>
        <p:nvSpPr>
          <p:cNvPr id="3" name="Footer Placeholder 2">
            <a:extLst>
              <a:ext uri="{FF2B5EF4-FFF2-40B4-BE49-F238E27FC236}">
                <a16:creationId xmlns:a16="http://schemas.microsoft.com/office/drawing/2014/main" id="{1CB09EFB-2F5B-4972-AB24-C8ECFA6C825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C3FD99-4512-4131-B177-ADE8D0521FF0}"/>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1638064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F4683-3BC3-4C6B-A4DE-11DBDBE7A1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9089C90-CA54-4E6A-AAA0-0C4ADE315C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2EEED50-FDB7-4B23-9F14-936C5BCECD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39790C-66EA-485D-BEA5-C1FD97D6203A}"/>
              </a:ext>
            </a:extLst>
          </p:cNvPr>
          <p:cNvSpPr>
            <a:spLocks noGrp="1"/>
          </p:cNvSpPr>
          <p:nvPr>
            <p:ph type="dt" sz="half" idx="10"/>
          </p:nvPr>
        </p:nvSpPr>
        <p:spPr/>
        <p:txBody>
          <a:bodyPr/>
          <a:lstStyle/>
          <a:p>
            <a:fld id="{843F7753-906A-48E5-A75C-DEB3356F7158}" type="datetimeFigureOut">
              <a:rPr lang="en-IN" smtClean="0"/>
              <a:t>01-05-2025</a:t>
            </a:fld>
            <a:endParaRPr lang="en-IN"/>
          </a:p>
        </p:txBody>
      </p:sp>
      <p:sp>
        <p:nvSpPr>
          <p:cNvPr id="6" name="Footer Placeholder 5">
            <a:extLst>
              <a:ext uri="{FF2B5EF4-FFF2-40B4-BE49-F238E27FC236}">
                <a16:creationId xmlns:a16="http://schemas.microsoft.com/office/drawing/2014/main" id="{B8A9E974-82F7-4C54-B79D-FE7087E8F5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1CE4DD-1EDC-4F38-9C56-1FD601BD8DD1}"/>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2995624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F9542-2554-4248-B1D8-ECAE7C6333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5D59A76-CC0B-4B13-BF93-D249D725B5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F5CB673-2776-4C52-BE09-89F312513B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12956C-6220-4C59-9ED9-7A57665C938A}"/>
              </a:ext>
            </a:extLst>
          </p:cNvPr>
          <p:cNvSpPr>
            <a:spLocks noGrp="1"/>
          </p:cNvSpPr>
          <p:nvPr>
            <p:ph type="dt" sz="half" idx="10"/>
          </p:nvPr>
        </p:nvSpPr>
        <p:spPr/>
        <p:txBody>
          <a:bodyPr/>
          <a:lstStyle/>
          <a:p>
            <a:fld id="{843F7753-906A-48E5-A75C-DEB3356F7158}" type="datetimeFigureOut">
              <a:rPr lang="en-IN" smtClean="0"/>
              <a:t>01-05-2025</a:t>
            </a:fld>
            <a:endParaRPr lang="en-IN"/>
          </a:p>
        </p:txBody>
      </p:sp>
      <p:sp>
        <p:nvSpPr>
          <p:cNvPr id="6" name="Footer Placeholder 5">
            <a:extLst>
              <a:ext uri="{FF2B5EF4-FFF2-40B4-BE49-F238E27FC236}">
                <a16:creationId xmlns:a16="http://schemas.microsoft.com/office/drawing/2014/main" id="{80432B89-9BFE-4B96-8C07-428EF8A622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02A7D2-D55C-4CF4-A4C7-D0C4D09D9B27}"/>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458443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16811-2B28-4BB8-B184-45AC8EAFC5F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D0B1D50-D297-4B2F-81E0-329706A711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BDF1F6-3107-4317-BA04-F5A74FE1C465}"/>
              </a:ext>
            </a:extLst>
          </p:cNvPr>
          <p:cNvSpPr>
            <a:spLocks noGrp="1"/>
          </p:cNvSpPr>
          <p:nvPr>
            <p:ph type="dt" sz="half" idx="10"/>
          </p:nvPr>
        </p:nvSpPr>
        <p:spPr/>
        <p:txBody>
          <a:bodyPr/>
          <a:lstStyle/>
          <a:p>
            <a:fld id="{843F7753-906A-48E5-A75C-DEB3356F7158}" type="datetimeFigureOut">
              <a:rPr lang="en-IN" smtClean="0"/>
              <a:t>01-05-2025</a:t>
            </a:fld>
            <a:endParaRPr lang="en-IN"/>
          </a:p>
        </p:txBody>
      </p:sp>
      <p:sp>
        <p:nvSpPr>
          <p:cNvPr id="5" name="Footer Placeholder 4">
            <a:extLst>
              <a:ext uri="{FF2B5EF4-FFF2-40B4-BE49-F238E27FC236}">
                <a16:creationId xmlns:a16="http://schemas.microsoft.com/office/drawing/2014/main" id="{188C0489-A968-4FA0-B74F-6E64D3C53C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64B6C9-321E-4DF2-8D5F-A422DD5F8E0F}"/>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1435562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DD424D-BDD2-4D9F-9640-C31C2E9FEE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747B7C-4D02-41A8-9F99-2553B76BCC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90CFCF-05F5-4700-AAC9-F718639703EA}"/>
              </a:ext>
            </a:extLst>
          </p:cNvPr>
          <p:cNvSpPr>
            <a:spLocks noGrp="1"/>
          </p:cNvSpPr>
          <p:nvPr>
            <p:ph type="dt" sz="half" idx="10"/>
          </p:nvPr>
        </p:nvSpPr>
        <p:spPr/>
        <p:txBody>
          <a:bodyPr/>
          <a:lstStyle/>
          <a:p>
            <a:fld id="{843F7753-906A-48E5-A75C-DEB3356F7158}" type="datetimeFigureOut">
              <a:rPr lang="en-IN" smtClean="0"/>
              <a:t>01-05-2025</a:t>
            </a:fld>
            <a:endParaRPr lang="en-IN"/>
          </a:p>
        </p:txBody>
      </p:sp>
      <p:sp>
        <p:nvSpPr>
          <p:cNvPr id="5" name="Footer Placeholder 4">
            <a:extLst>
              <a:ext uri="{FF2B5EF4-FFF2-40B4-BE49-F238E27FC236}">
                <a16:creationId xmlns:a16="http://schemas.microsoft.com/office/drawing/2014/main" id="{F25B6FF0-0765-4111-BB57-3670D06C18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0258ED-0A80-46F1-82ED-E5888E119E4B}"/>
              </a:ext>
            </a:extLst>
          </p:cNvPr>
          <p:cNvSpPr>
            <a:spLocks noGrp="1"/>
          </p:cNvSpPr>
          <p:nvPr>
            <p:ph type="sldNum" sz="quarter" idx="12"/>
          </p:nvPr>
        </p:nvSpPr>
        <p:spPr/>
        <p:txBody>
          <a:bodyPr/>
          <a:lstStyle/>
          <a:p>
            <a:fld id="{5DA46D18-3D15-42BB-8F5C-4CEE56373E76}" type="slidenum">
              <a:rPr lang="en-IN" smtClean="0"/>
              <a:t>‹#›</a:t>
            </a:fld>
            <a:endParaRPr lang="en-IN"/>
          </a:p>
        </p:txBody>
      </p:sp>
    </p:spTree>
    <p:extLst>
      <p:ext uri="{BB962C8B-B14F-4D97-AF65-F5344CB8AC3E}">
        <p14:creationId xmlns:p14="http://schemas.microsoft.com/office/powerpoint/2010/main" val="276999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C4D321-0C74-4D58-942A-F2CEED851C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D754D4-104B-4C9B-B5A5-8F983A55A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D34804-7137-48A1-B08B-285D17B88A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3F7753-906A-48E5-A75C-DEB3356F7158}" type="datetimeFigureOut">
              <a:rPr lang="en-IN" smtClean="0"/>
              <a:t>01-05-2025</a:t>
            </a:fld>
            <a:endParaRPr lang="en-IN"/>
          </a:p>
        </p:txBody>
      </p:sp>
      <p:sp>
        <p:nvSpPr>
          <p:cNvPr id="5" name="Footer Placeholder 4">
            <a:extLst>
              <a:ext uri="{FF2B5EF4-FFF2-40B4-BE49-F238E27FC236}">
                <a16:creationId xmlns:a16="http://schemas.microsoft.com/office/drawing/2014/main" id="{8BECC441-F3D6-4AD6-965E-D376F26279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F68E62A-EB95-4D0D-A98D-CBE84FE9F1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46D18-3D15-42BB-8F5C-4CEE56373E76}" type="slidenum">
              <a:rPr lang="en-IN" smtClean="0"/>
              <a:t>‹#›</a:t>
            </a:fld>
            <a:endParaRPr lang="en-IN"/>
          </a:p>
        </p:txBody>
      </p:sp>
    </p:spTree>
    <p:extLst>
      <p:ext uri="{BB962C8B-B14F-4D97-AF65-F5344CB8AC3E}">
        <p14:creationId xmlns:p14="http://schemas.microsoft.com/office/powerpoint/2010/main" val="2337338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C0C46-0C0B-4DD9-BC5E-437381FDF46B}"/>
              </a:ext>
            </a:extLst>
          </p:cNvPr>
          <p:cNvSpPr>
            <a:spLocks noGrp="1"/>
          </p:cNvSpPr>
          <p:nvPr>
            <p:ph type="ctrTitle"/>
          </p:nvPr>
        </p:nvSpPr>
        <p:spPr/>
        <p:txBody>
          <a:bodyPr/>
          <a:lstStyle/>
          <a:p>
            <a:r>
              <a:rPr lang="en-US" dirty="0"/>
              <a:t>Lab-10</a:t>
            </a:r>
            <a:endParaRPr lang="en-IN" dirty="0"/>
          </a:p>
        </p:txBody>
      </p:sp>
      <p:sp>
        <p:nvSpPr>
          <p:cNvPr id="3" name="Subtitle 2">
            <a:extLst>
              <a:ext uri="{FF2B5EF4-FFF2-40B4-BE49-F238E27FC236}">
                <a16:creationId xmlns:a16="http://schemas.microsoft.com/office/drawing/2014/main" id="{42F2331F-ADDF-4021-8C3E-2657BB55D142}"/>
              </a:ext>
            </a:extLst>
          </p:cNvPr>
          <p:cNvSpPr>
            <a:spLocks noGrp="1"/>
          </p:cNvSpPr>
          <p:nvPr>
            <p:ph type="subTitle" idx="1"/>
          </p:nvPr>
        </p:nvSpPr>
        <p:spPr/>
        <p:txBody>
          <a:bodyPr/>
          <a:lstStyle/>
          <a:p>
            <a:r>
              <a:rPr lang="en-US" dirty="0"/>
              <a:t>Implement Dimensionality reduction using Principle</a:t>
            </a:r>
          </a:p>
          <a:p>
            <a:r>
              <a:rPr lang="en-US" dirty="0"/>
              <a:t>Component Analysis (PCA) method.</a:t>
            </a:r>
          </a:p>
        </p:txBody>
      </p:sp>
    </p:spTree>
    <p:extLst>
      <p:ext uri="{BB962C8B-B14F-4D97-AF65-F5344CB8AC3E}">
        <p14:creationId xmlns:p14="http://schemas.microsoft.com/office/powerpoint/2010/main" val="3464186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E4332-7488-4326-A409-059AFBC683E8}"/>
              </a:ext>
            </a:extLst>
          </p:cNvPr>
          <p:cNvSpPr>
            <a:spLocks noGrp="1"/>
          </p:cNvSpPr>
          <p:nvPr>
            <p:ph type="title"/>
          </p:nvPr>
        </p:nvSpPr>
        <p:spPr/>
        <p:txBody>
          <a:bodyPr>
            <a:normAutofit/>
          </a:bodyPr>
          <a:lstStyle/>
          <a:p>
            <a:r>
              <a:rPr lang="en-US" dirty="0"/>
              <a:t>To write in Observation Book</a:t>
            </a:r>
            <a:endParaRPr lang="en-IN" dirty="0"/>
          </a:p>
        </p:txBody>
      </p:sp>
      <p:sp>
        <p:nvSpPr>
          <p:cNvPr id="3" name="Content Placeholder 2">
            <a:extLst>
              <a:ext uri="{FF2B5EF4-FFF2-40B4-BE49-F238E27FC236}">
                <a16:creationId xmlns:a16="http://schemas.microsoft.com/office/drawing/2014/main" id="{A52D6E6C-7E2C-4218-8E9D-E0F709622B5E}"/>
              </a:ext>
            </a:extLst>
          </p:cNvPr>
          <p:cNvSpPr>
            <a:spLocks noGrp="1"/>
          </p:cNvSpPr>
          <p:nvPr>
            <p:ph idx="1"/>
          </p:nvPr>
        </p:nvSpPr>
        <p:spPr/>
        <p:txBody>
          <a:bodyPr>
            <a:normAutofit/>
          </a:bodyPr>
          <a:lstStyle/>
          <a:p>
            <a:pPr marL="0" indent="0" algn="just">
              <a:buNone/>
            </a:pPr>
            <a:r>
              <a:rPr lang="en-US" sz="2000" dirty="0"/>
              <a:t>Given the data in table, reduce the dimension from 2 to 1 using the Principal Component Analysis (PCA). Compute for First Principal Component. </a:t>
            </a:r>
            <a:endParaRPr lang="en-IN" sz="2000" dirty="0"/>
          </a:p>
          <a:p>
            <a:pPr marL="0" indent="0" algn="just">
              <a:buNone/>
            </a:pPr>
            <a:endParaRPr lang="en-IN" sz="2000" dirty="0"/>
          </a:p>
        </p:txBody>
      </p:sp>
      <p:pic>
        <p:nvPicPr>
          <p:cNvPr id="4" name="Picture 3">
            <a:extLst>
              <a:ext uri="{FF2B5EF4-FFF2-40B4-BE49-F238E27FC236}">
                <a16:creationId xmlns:a16="http://schemas.microsoft.com/office/drawing/2014/main" id="{A5786EE2-E7D0-2F16-7F88-49F933BE80F3}"/>
              </a:ext>
            </a:extLst>
          </p:cNvPr>
          <p:cNvPicPr>
            <a:picLocks noChangeAspect="1"/>
          </p:cNvPicPr>
          <p:nvPr/>
        </p:nvPicPr>
        <p:blipFill>
          <a:blip r:embed="rId2"/>
          <a:stretch>
            <a:fillRect/>
          </a:stretch>
        </p:blipFill>
        <p:spPr>
          <a:xfrm>
            <a:off x="1319888" y="4394696"/>
            <a:ext cx="2229161" cy="1219370"/>
          </a:xfrm>
          <a:prstGeom prst="rect">
            <a:avLst/>
          </a:prstGeom>
        </p:spPr>
      </p:pic>
      <p:sp>
        <p:nvSpPr>
          <p:cNvPr id="6" name="TextBox 5">
            <a:extLst>
              <a:ext uri="{FF2B5EF4-FFF2-40B4-BE49-F238E27FC236}">
                <a16:creationId xmlns:a16="http://schemas.microsoft.com/office/drawing/2014/main" id="{599DCF00-0194-CE8B-279D-DD1039FE986F}"/>
              </a:ext>
            </a:extLst>
          </p:cNvPr>
          <p:cNvSpPr txBox="1"/>
          <p:nvPr/>
        </p:nvSpPr>
        <p:spPr>
          <a:xfrm>
            <a:off x="902802" y="4117841"/>
            <a:ext cx="3273845" cy="369332"/>
          </a:xfrm>
          <a:prstGeom prst="rect">
            <a:avLst/>
          </a:prstGeom>
          <a:noFill/>
        </p:spPr>
        <p:txBody>
          <a:bodyPr wrap="none" rtlCol="0">
            <a:spAutoFit/>
          </a:bodyPr>
          <a:lstStyle/>
          <a:p>
            <a:r>
              <a:rPr lang="en-IN" dirty="0"/>
              <a:t>Consider Eigen Values as follows:</a:t>
            </a:r>
          </a:p>
        </p:txBody>
      </p:sp>
      <p:pic>
        <p:nvPicPr>
          <p:cNvPr id="7" name="Picture 6">
            <a:extLst>
              <a:ext uri="{FF2B5EF4-FFF2-40B4-BE49-F238E27FC236}">
                <a16:creationId xmlns:a16="http://schemas.microsoft.com/office/drawing/2014/main" id="{A12300A8-D40F-6D84-DC35-267AC200A8A2}"/>
              </a:ext>
            </a:extLst>
          </p:cNvPr>
          <p:cNvPicPr>
            <a:picLocks noChangeAspect="1"/>
          </p:cNvPicPr>
          <p:nvPr/>
        </p:nvPicPr>
        <p:blipFill>
          <a:blip r:embed="rId3"/>
          <a:stretch>
            <a:fillRect/>
          </a:stretch>
        </p:blipFill>
        <p:spPr>
          <a:xfrm>
            <a:off x="5674121" y="4370114"/>
            <a:ext cx="1716753" cy="1925097"/>
          </a:xfrm>
          <a:prstGeom prst="rect">
            <a:avLst/>
          </a:prstGeom>
        </p:spPr>
      </p:pic>
      <p:sp>
        <p:nvSpPr>
          <p:cNvPr id="8" name="TextBox 7">
            <a:extLst>
              <a:ext uri="{FF2B5EF4-FFF2-40B4-BE49-F238E27FC236}">
                <a16:creationId xmlns:a16="http://schemas.microsoft.com/office/drawing/2014/main" id="{D79A824F-A630-2008-6A10-0E87C750D43A}"/>
              </a:ext>
            </a:extLst>
          </p:cNvPr>
          <p:cNvSpPr txBox="1"/>
          <p:nvPr/>
        </p:nvSpPr>
        <p:spPr>
          <a:xfrm>
            <a:off x="5006419" y="4001294"/>
            <a:ext cx="3358420" cy="369332"/>
          </a:xfrm>
          <a:prstGeom prst="rect">
            <a:avLst/>
          </a:prstGeom>
          <a:noFill/>
        </p:spPr>
        <p:txBody>
          <a:bodyPr wrap="none" rtlCol="0">
            <a:spAutoFit/>
          </a:bodyPr>
          <a:lstStyle/>
          <a:p>
            <a:r>
              <a:rPr lang="en-IN" dirty="0"/>
              <a:t>Consider Eigen Vectors as follows:</a:t>
            </a:r>
          </a:p>
        </p:txBody>
      </p:sp>
      <p:pic>
        <p:nvPicPr>
          <p:cNvPr id="9" name="Picture 8">
            <a:extLst>
              <a:ext uri="{FF2B5EF4-FFF2-40B4-BE49-F238E27FC236}">
                <a16:creationId xmlns:a16="http://schemas.microsoft.com/office/drawing/2014/main" id="{6310ECCF-EC54-C96B-45DE-A1A1B8A467DB}"/>
              </a:ext>
            </a:extLst>
          </p:cNvPr>
          <p:cNvPicPr>
            <a:picLocks noChangeAspect="1"/>
          </p:cNvPicPr>
          <p:nvPr/>
        </p:nvPicPr>
        <p:blipFill>
          <a:blip r:embed="rId4"/>
          <a:stretch>
            <a:fillRect/>
          </a:stretch>
        </p:blipFill>
        <p:spPr>
          <a:xfrm>
            <a:off x="753588" y="2410752"/>
            <a:ext cx="7848600" cy="1375850"/>
          </a:xfrm>
          <a:prstGeom prst="rect">
            <a:avLst/>
          </a:prstGeom>
        </p:spPr>
      </p:pic>
    </p:spTree>
    <p:extLst>
      <p:ext uri="{BB962C8B-B14F-4D97-AF65-F5344CB8AC3E}">
        <p14:creationId xmlns:p14="http://schemas.microsoft.com/office/powerpoint/2010/main" val="3298937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5E56D-0A98-46F2-B14A-9713528DA360}"/>
              </a:ext>
            </a:extLst>
          </p:cNvPr>
          <p:cNvSpPr>
            <a:spLocks noGrp="1"/>
          </p:cNvSpPr>
          <p:nvPr>
            <p:ph type="title"/>
          </p:nvPr>
        </p:nvSpPr>
        <p:spPr/>
        <p:txBody>
          <a:bodyPr/>
          <a:lstStyle/>
          <a:p>
            <a:r>
              <a:rPr lang="en-US" dirty="0"/>
              <a:t>To Do: Implementation – PCS</a:t>
            </a:r>
            <a:endParaRPr lang="en-IN" dirty="0"/>
          </a:p>
        </p:txBody>
      </p:sp>
      <p:sp>
        <p:nvSpPr>
          <p:cNvPr id="3" name="Content Placeholder 2">
            <a:extLst>
              <a:ext uri="{FF2B5EF4-FFF2-40B4-BE49-F238E27FC236}">
                <a16:creationId xmlns:a16="http://schemas.microsoft.com/office/drawing/2014/main" id="{ED1622C3-4F16-4547-BFC8-56BC1BF3AAC7}"/>
              </a:ext>
            </a:extLst>
          </p:cNvPr>
          <p:cNvSpPr>
            <a:spLocks noGrp="1"/>
          </p:cNvSpPr>
          <p:nvPr>
            <p:ph idx="1"/>
          </p:nvPr>
        </p:nvSpPr>
        <p:spPr/>
        <p:txBody>
          <a:bodyPr>
            <a:normAutofit/>
          </a:bodyPr>
          <a:lstStyle/>
          <a:p>
            <a:pPr marL="0" indent="0">
              <a:buNone/>
            </a:pPr>
            <a:r>
              <a:rPr lang="en-US" sz="2000" dirty="0">
                <a:solidFill>
                  <a:srgbClr val="404040"/>
                </a:solidFill>
                <a:latin typeface="Inter"/>
              </a:rPr>
              <a:t>Write Python code to implement the following. Consider dataset files as “heart.csv” </a:t>
            </a:r>
          </a:p>
          <a:p>
            <a:r>
              <a:rPr lang="en-US" sz="2000" dirty="0">
                <a:solidFill>
                  <a:srgbClr val="404040"/>
                </a:solidFill>
                <a:latin typeface="Inter"/>
              </a:rPr>
              <a:t>Convert text columns to numbers using label encoding and one hot encoding</a:t>
            </a:r>
          </a:p>
          <a:p>
            <a:r>
              <a:rPr lang="en-US" sz="2000" dirty="0">
                <a:solidFill>
                  <a:srgbClr val="404040"/>
                </a:solidFill>
                <a:latin typeface="Inter"/>
              </a:rPr>
              <a:t>Apply scaling</a:t>
            </a:r>
          </a:p>
          <a:p>
            <a:r>
              <a:rPr lang="en-US" sz="2000" dirty="0">
                <a:solidFill>
                  <a:srgbClr val="404040"/>
                </a:solidFill>
                <a:latin typeface="Inter"/>
              </a:rPr>
              <a:t>Build a classification model using various methods (SVM, logistic regression, random forest) and check which model gives you the best accuracy</a:t>
            </a:r>
          </a:p>
          <a:p>
            <a:r>
              <a:rPr lang="en-US" sz="2000" dirty="0">
                <a:solidFill>
                  <a:srgbClr val="404040"/>
                </a:solidFill>
                <a:latin typeface="Inter"/>
              </a:rPr>
              <a:t>Now use PCA to reduce dimensions, retrain your model and see what impact it has on your model in terms of accuracy. Keep in mind that many times doing PCA reduces the accuracy but computation is much lighter and that's the trade off you need to consider while building models in real life.</a:t>
            </a:r>
            <a:endParaRPr lang="en-US" sz="2000" i="0" dirty="0">
              <a:effectLst/>
              <a:latin typeface="system-ui"/>
            </a:endParaRPr>
          </a:p>
        </p:txBody>
      </p:sp>
    </p:spTree>
    <p:extLst>
      <p:ext uri="{BB962C8B-B14F-4D97-AF65-F5344CB8AC3E}">
        <p14:creationId xmlns:p14="http://schemas.microsoft.com/office/powerpoint/2010/main" val="1850762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7F1A7-B14E-4260-AE37-544729E16183}"/>
              </a:ext>
            </a:extLst>
          </p:cNvPr>
          <p:cNvSpPr>
            <a:spLocks noGrp="1"/>
          </p:cNvSpPr>
          <p:nvPr>
            <p:ph type="title"/>
          </p:nvPr>
        </p:nvSpPr>
        <p:spPr/>
        <p:txBody>
          <a:bodyPr/>
          <a:lstStyle/>
          <a:p>
            <a:r>
              <a:rPr lang="en-US" dirty="0"/>
              <a:t>To Upload to </a:t>
            </a:r>
            <a:r>
              <a:rPr lang="en-US" dirty="0" err="1"/>
              <a:t>Github</a:t>
            </a:r>
            <a:endParaRPr lang="en-IN" dirty="0"/>
          </a:p>
        </p:txBody>
      </p:sp>
      <p:sp>
        <p:nvSpPr>
          <p:cNvPr id="3" name="Content Placeholder 2">
            <a:extLst>
              <a:ext uri="{FF2B5EF4-FFF2-40B4-BE49-F238E27FC236}">
                <a16:creationId xmlns:a16="http://schemas.microsoft.com/office/drawing/2014/main" id="{CD65A1EA-7FE4-4B44-864D-43DFFCA8CAC2}"/>
              </a:ext>
            </a:extLst>
          </p:cNvPr>
          <p:cNvSpPr>
            <a:spLocks noGrp="1"/>
          </p:cNvSpPr>
          <p:nvPr>
            <p:ph idx="1"/>
          </p:nvPr>
        </p:nvSpPr>
        <p:spPr/>
        <p:txBody>
          <a:bodyPr/>
          <a:lstStyle/>
          <a:p>
            <a:r>
              <a:rPr lang="en-US" dirty="0"/>
              <a:t>In your </a:t>
            </a:r>
            <a:r>
              <a:rPr lang="en-US" dirty="0" err="1"/>
              <a:t>github</a:t>
            </a:r>
            <a:r>
              <a:rPr lang="en-US" dirty="0"/>
              <a:t> account create folder “6thSem-ML-Lab” and upload  your python notebook worked on PCA with file name as “</a:t>
            </a:r>
            <a:r>
              <a:rPr lang="en-US" dirty="0">
                <a:solidFill>
                  <a:srgbClr val="0000CC"/>
                </a:solidFill>
              </a:rPr>
              <a:t>yourUSN</a:t>
            </a:r>
            <a:r>
              <a:rPr lang="en-US" dirty="0"/>
              <a:t>_Lab-10-PCA. </a:t>
            </a:r>
            <a:r>
              <a:rPr lang="en-US" dirty="0" err="1"/>
              <a:t>ipynb</a:t>
            </a:r>
            <a:r>
              <a:rPr lang="en-US" dirty="0"/>
              <a:t>”</a:t>
            </a:r>
            <a:endParaRPr lang="en-IN" dirty="0"/>
          </a:p>
          <a:p>
            <a:endParaRPr lang="en-IN" dirty="0"/>
          </a:p>
        </p:txBody>
      </p:sp>
    </p:spTree>
    <p:extLst>
      <p:ext uri="{BB962C8B-B14F-4D97-AF65-F5344CB8AC3E}">
        <p14:creationId xmlns:p14="http://schemas.microsoft.com/office/powerpoint/2010/main" val="624798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9A102-B666-434F-AFAC-EDAC9DFBA3E4}"/>
              </a:ext>
            </a:extLst>
          </p:cNvPr>
          <p:cNvSpPr>
            <a:spLocks noGrp="1"/>
          </p:cNvSpPr>
          <p:nvPr>
            <p:ph type="title"/>
          </p:nvPr>
        </p:nvSpPr>
        <p:spPr/>
        <p:txBody>
          <a:bodyPr/>
          <a:lstStyle/>
          <a:p>
            <a:r>
              <a:rPr lang="en-US" dirty="0"/>
              <a:t>To write in the Observation Book</a:t>
            </a:r>
            <a:endParaRPr lang="en-IN" dirty="0"/>
          </a:p>
        </p:txBody>
      </p:sp>
      <p:sp>
        <p:nvSpPr>
          <p:cNvPr id="3" name="Content Placeholder 2">
            <a:extLst>
              <a:ext uri="{FF2B5EF4-FFF2-40B4-BE49-F238E27FC236}">
                <a16:creationId xmlns:a16="http://schemas.microsoft.com/office/drawing/2014/main" id="{05B8AA28-0D17-407A-86E4-F0D0224907A3}"/>
              </a:ext>
            </a:extLst>
          </p:cNvPr>
          <p:cNvSpPr>
            <a:spLocks noGrp="1"/>
          </p:cNvSpPr>
          <p:nvPr>
            <p:ph idx="1"/>
          </p:nvPr>
        </p:nvSpPr>
        <p:spPr/>
        <p:txBody>
          <a:bodyPr>
            <a:normAutofit/>
          </a:bodyPr>
          <a:lstStyle/>
          <a:p>
            <a:pPr marL="0" indent="0" algn="just">
              <a:buNone/>
            </a:pPr>
            <a:r>
              <a:rPr lang="en-US" sz="1600" dirty="0"/>
              <a:t>After building </a:t>
            </a:r>
            <a:r>
              <a:rPr lang="en-US" sz="1600"/>
              <a:t>the model</a:t>
            </a:r>
            <a:r>
              <a:rPr lang="en-US" sz="1600" dirty="0"/>
              <a:t>, write the answer for the following question in your observation book</a:t>
            </a:r>
          </a:p>
          <a:p>
            <a:pPr marL="0" indent="0" algn="just">
              <a:buNone/>
            </a:pPr>
            <a:r>
              <a:rPr lang="en-US" sz="1600" dirty="0"/>
              <a:t>1. For “heart.csv” dataset</a:t>
            </a:r>
          </a:p>
          <a:p>
            <a:pPr marL="0" indent="0" algn="just">
              <a:buNone/>
            </a:pPr>
            <a:r>
              <a:rPr lang="en-US" sz="1600" b="0" i="0" dirty="0">
                <a:effectLst/>
                <a:latin typeface="system-ui"/>
              </a:rPr>
              <a:t>Report the accuracy scores before and after applying PCA.</a:t>
            </a:r>
            <a:endParaRPr lang="en-US" sz="1600" dirty="0"/>
          </a:p>
        </p:txBody>
      </p:sp>
    </p:spTree>
    <p:extLst>
      <p:ext uri="{BB962C8B-B14F-4D97-AF65-F5344CB8AC3E}">
        <p14:creationId xmlns:p14="http://schemas.microsoft.com/office/powerpoint/2010/main" val="29036755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303</TotalTime>
  <Words>261</Words>
  <Application>Microsoft Office PowerPoint</Application>
  <PresentationFormat>Widescreen</PresentationFormat>
  <Paragraphs>22</Paragraphs>
  <Slides>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Calibri Light</vt:lpstr>
      <vt:lpstr>Inter</vt:lpstr>
      <vt:lpstr>system-ui</vt:lpstr>
      <vt:lpstr>Office Theme</vt:lpstr>
      <vt:lpstr>Lab-10</vt:lpstr>
      <vt:lpstr>To write in Observation Book</vt:lpstr>
      <vt:lpstr>To Do: Implementation – PCS</vt:lpstr>
      <vt:lpstr>To Upload to Github</vt:lpstr>
      <vt:lpstr>To write in the Observation Book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Lab-2</dc:title>
  <dc:creator>BMSCECSE</dc:creator>
  <cp:lastModifiedBy>Uma Devi</cp:lastModifiedBy>
  <cp:revision>42</cp:revision>
  <dcterms:created xsi:type="dcterms:W3CDTF">2025-03-06T04:01:53Z</dcterms:created>
  <dcterms:modified xsi:type="dcterms:W3CDTF">2025-05-01T17:43:17Z</dcterms:modified>
</cp:coreProperties>
</file>